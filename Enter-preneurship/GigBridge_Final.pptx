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950" spc="-1" strike="noStrike">
                <a:solidFill>
                  <a:srgbClr val="64748b"/>
                </a:solidFill>
                <a:latin typeface="Arial"/>
              </a:defRPr>
            </a:pPr>
            <a:r>
              <a:rPr b="0" sz="950" spc="-1" strike="noStrike">
                <a:solidFill>
                  <a:srgbClr val="64748b"/>
                </a:solidFill>
                <a:latin typeface="Arial"/>
              </a:rPr>
              <a:t>Freelancer Growth Trend  (US Market, Millions — Source: Statista)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US Freelancers (Millions)</c:v>
                </c:pt>
              </c:strCache>
            </c:strRef>
          </c:tx>
          <c:spPr>
            <a:solidFill>
              <a:srgbClr val="14b8a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57</c:v>
                </c:pt>
                <c:pt idx="1">
                  <c:v>59</c:v>
                </c:pt>
                <c:pt idx="2">
                  <c:v>64</c:v>
                </c:pt>
                <c:pt idx="3">
                  <c:v>70</c:v>
                </c:pt>
                <c:pt idx="4">
                  <c:v>76</c:v>
                </c:pt>
                <c:pt idx="5">
                  <c:v>84</c:v>
                </c:pt>
              </c:numCache>
            </c:numRef>
          </c:val>
        </c:ser>
        <c:gapWidth val="150"/>
        <c:overlap val="0"/>
        <c:axId val="74671313"/>
        <c:axId val="89913453"/>
      </c:barChart>
      <c:catAx>
        <c:axId val="7467131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89913453"/>
        <c:crosses val="autoZero"/>
        <c:auto val="1"/>
        <c:lblAlgn val="ctr"/>
        <c:lblOffset val="100"/>
        <c:noMultiLvlLbl val="0"/>
      </c:catAx>
      <c:valAx>
        <c:axId val="89913453"/>
        <c:scaling>
          <c:orientation val="minMax"/>
        </c:scaling>
        <c:delete val="0"/>
        <c:axPos val="l"/>
        <c:majorGridlines>
          <c:spPr>
            <a:ln w="6480">
              <a:solidFill>
                <a:srgbClr val="26354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7467131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e2d3d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0ea5e9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4b8a6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59669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0b1628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0b1628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0b1628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3"/>
                <c:pt idx="0">
                  <c:v>Pro Plan</c:v>
                </c:pt>
                <c:pt idx="1">
                  <c:v>Agency Plan</c:v>
                </c:pt>
                <c:pt idx="2">
                  <c:v>Affiliate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span"/>
  </c:chart>
  <c:spPr>
    <a:solidFill>
      <a:srgbClr val="f8fafc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000" spc="-1" strike="noStrike">
                <a:solidFill>
                  <a:srgbClr val="64748b"/>
                </a:solidFill>
                <a:latin typeface="Arial"/>
              </a:defRPr>
            </a:pPr>
            <a:r>
              <a:rPr b="0" sz="1000" spc="-1" strike="noStrike">
                <a:solidFill>
                  <a:srgbClr val="64748b"/>
                </a:solidFill>
                <a:latin typeface="Arial"/>
              </a:rPr>
              <a:t>3-Year Revenue vs. Expenses (PKR '000)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 (PKR '000)</c:v>
                </c:pt>
              </c:strCache>
            </c:strRef>
          </c:tx>
          <c:spPr>
            <a:solidFill>
              <a:srgbClr val="14b8a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b162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1440</c:v>
                </c:pt>
                <c:pt idx="1">
                  <c:v>7200</c:v>
                </c:pt>
                <c:pt idx="2">
                  <c:v>21600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Expenses (PKR '000)</c:v>
                </c:pt>
              </c:strCache>
            </c:strRef>
          </c:tx>
          <c:spPr>
            <a:solidFill>
              <a:srgbClr val="ef4444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b162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2160</c:v>
                </c:pt>
                <c:pt idx="1">
                  <c:v>4800</c:v>
                </c:pt>
                <c:pt idx="2">
                  <c:v>9600</c:v>
                </c:pt>
              </c:numCache>
            </c:numRef>
          </c:val>
        </c:ser>
        <c:gapWidth val="150"/>
        <c:overlap val="0"/>
        <c:axId val="42344735"/>
        <c:axId val="85436975"/>
      </c:barChart>
      <c:catAx>
        <c:axId val="4234473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85436975"/>
        <c:crosses val="autoZero"/>
        <c:auto val="1"/>
        <c:lblAlgn val="ctr"/>
        <c:lblOffset val="100"/>
        <c:noMultiLvlLbl val="0"/>
      </c:catAx>
      <c:valAx>
        <c:axId val="85436975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4234473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8fafc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ED5580B-C4C7-4D5B-81C8-D595D56C8B5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A1547-1B5E-4BE9-952B-D57753EB11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02A7A6-FBD0-40BB-B82F-692CAA68D4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D441E-7D4C-4200-9CD0-F1C2D95543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A9C1BE-2491-4E13-BD9D-48556FE295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CB5B2-AB42-48BA-BC31-5E283684C8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3483A7-1618-4F63-9FF3-37773BEBEC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9182E-A910-4A08-AC9C-5384B233E1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9C1CF7-16FF-48E4-90A5-8B54A3BAC6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132589-E0D8-4DD2-B920-A198A6A28C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7D48D7-3ED9-408D-A24B-0A0ED6D7D5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127A3-AD35-463C-B6C1-33C9DBEB8B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FD572D-7752-44B0-9C57-E9EAA662FB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8B4998-7E12-468B-8795-EDD4763677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-914400"/>
            <a:ext cx="4388760" cy="438876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315200" y="2926080"/>
            <a:ext cx="2559960" cy="255996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914400"/>
            <a:ext cx="68576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ffffff"/>
                </a:solidFill>
                <a:latin typeface="Calibri"/>
                <a:ea typeface="Calibri"/>
              </a:rPr>
              <a:t>GigBridge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57200" y="2084760"/>
            <a:ext cx="1645560" cy="5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286000"/>
            <a:ext cx="640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14b8a6"/>
                </a:solidFill>
                <a:latin typeface="Calibri"/>
                <a:ea typeface="Calibri"/>
              </a:rPr>
              <a:t>One App. Every Opportunity.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29077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A mobile platform that aggregates freelance job listings from all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major platforms into a single, intelligent feed.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46450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Business Plan Presentation  ·  MGT250 Introduction to Entrepreneurship  ·  COMSATS University Islamabad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Executive Summary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1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347400" y="896040"/>
            <a:ext cx="4041360" cy="1663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347400" y="896040"/>
            <a:ext cx="54360" cy="1663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30280" y="10605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628"/>
                </a:solidFill>
                <a:latin typeface="Calibri"/>
                <a:ea typeface="Calibri"/>
              </a:rPr>
              <a:t>The Problem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30280" y="14446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Over 1.57B freelancers manage 4–6 separate platforms daily. No single tool unifies this experience on mobile.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347400" y="2724840"/>
            <a:ext cx="4041360" cy="1663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347400" y="2724840"/>
            <a:ext cx="54360" cy="1663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530280" y="28893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628"/>
                </a:solidFill>
                <a:latin typeface="Calibri"/>
                <a:ea typeface="Calibri"/>
              </a:rPr>
              <a:t>Our Solution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530280" y="32734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GigBridge aggregates job listings from Upwork, Fiverr, Freelancer.com, and more into one real-time mobile feed.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4709160" y="896040"/>
            <a:ext cx="4041360" cy="1663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4709160" y="896040"/>
            <a:ext cx="54360" cy="1663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4892040" y="10605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628"/>
                </a:solidFill>
                <a:latin typeface="Calibri"/>
                <a:ea typeface="Calibri"/>
              </a:rPr>
              <a:t>Target Market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4892040" y="14446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Pakistani freelancers (ranked #3 globally) and the South Asian &amp; MENA gig economy  20M+ active freelancers.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4709160" y="2724840"/>
            <a:ext cx="4041360" cy="1663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4709160" y="2724840"/>
            <a:ext cx="54360" cy="1663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4892040" y="28893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628"/>
                </a:solidFill>
                <a:latin typeface="Calibri"/>
                <a:ea typeface="Calibri"/>
              </a:rPr>
              <a:t>Revenue Model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4892040" y="32734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Freemium SaaS: Free tier, Pro at PKR 599/mo, Agency at PKR 1,499/mo, plus affiliate commission revenue.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347400" y="4526280"/>
            <a:ext cx="8448840" cy="3654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502920" y="454464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Seeking seed investment to complete development and launch on Google Play Store within 6 months.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The Problem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2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347400" y="841320"/>
            <a:ext cx="844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94a3b8"/>
                </a:solidFill>
                <a:latin typeface="Calibri"/>
                <a:ea typeface="Calibri"/>
              </a:rPr>
              <a:t>Freelancers are overwhelmed — not by lack of work, but by scattered access to it.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292680" y="1325880"/>
            <a:ext cx="2761200" cy="356580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292680" y="1325880"/>
            <a:ext cx="2761200" cy="5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1225440" y="1554480"/>
            <a:ext cx="914040" cy="9140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1435680" y="176472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47" name="Text 8"/>
          <p:cNvSpPr/>
          <p:nvPr/>
        </p:nvSpPr>
        <p:spPr>
          <a:xfrm>
            <a:off x="429840" y="2633400"/>
            <a:ext cx="248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Platform Overload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429840" y="3090600"/>
            <a:ext cx="24868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The average freelancer maintains accounts on 4–6 platforms simultaneously: Upwork, Fiverr, Freelancer.com, PeoplePerHour, Toptal, and others.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3237120" y="1325880"/>
            <a:ext cx="2761200" cy="356580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3237120" y="1325880"/>
            <a:ext cx="2761200" cy="5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169520" y="1554480"/>
            <a:ext cx="914040" cy="9140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2"/>
          <a:stretch/>
        </p:blipFill>
        <p:spPr>
          <a:xfrm>
            <a:off x="4380120" y="176472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53" name="Text 13"/>
          <p:cNvSpPr/>
          <p:nvPr/>
        </p:nvSpPr>
        <p:spPr>
          <a:xfrm>
            <a:off x="3374280" y="2633400"/>
            <a:ext cx="248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Time Wasted Daily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3374280" y="3090600"/>
            <a:ext cx="24868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Hours are lost every day switching between apps, re-logging in, and scanning separate feeds — time that could be spent on billable work.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181200" y="1325880"/>
            <a:ext cx="2761200" cy="356580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6181200" y="1325880"/>
            <a:ext cx="2761200" cy="5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7113960" y="1554480"/>
            <a:ext cx="914040" cy="9140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2" descr="preencoded.png"/>
          <p:cNvPicPr/>
          <p:nvPr/>
        </p:nvPicPr>
        <p:blipFill>
          <a:blip r:embed="rId3"/>
          <a:stretch/>
        </p:blipFill>
        <p:spPr>
          <a:xfrm>
            <a:off x="7324200" y="176472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59" name="Text 18"/>
          <p:cNvSpPr/>
          <p:nvPr/>
        </p:nvSpPr>
        <p:spPr>
          <a:xfrm>
            <a:off x="6318360" y="2633400"/>
            <a:ext cx="248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Missed Opportunities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6318360" y="3090600"/>
            <a:ext cx="24868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Without a unified view, high-value gigs disappear before a freelancer sees them. Fast clients often hire within hours of posting.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Company Description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3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347400" y="8960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Mission Statement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347400" y="1280160"/>
            <a:ext cx="4041360" cy="1416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347400" y="1280160"/>
            <a:ext cx="54360" cy="1416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530280" y="141732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"To eliminate the friction between freelancers and opportunity — by building the single platform that brings every job to them."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47400" y="28530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Current Status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347400" y="3310200"/>
            <a:ext cx="200880" cy="200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658440" y="32734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Concept validated through peer surveys (50+ freelancers)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347400" y="3785760"/>
            <a:ext cx="200880" cy="200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658440" y="3749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App wireframes and architecture completed via Google Stitch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347400" y="4260960"/>
            <a:ext cx="200880" cy="200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58440" y="42246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Seeking seed funding for full MVP development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754880" y="89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Core Value Propositions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4754880" y="128016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4892040" y="14173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79" name="Text 17"/>
          <p:cNvSpPr/>
          <p:nvPr/>
        </p:nvSpPr>
        <p:spPr>
          <a:xfrm>
            <a:off x="5413320" y="14630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1628"/>
                </a:solidFill>
                <a:latin typeface="Calibri"/>
                <a:ea typeface="Calibri"/>
              </a:rPr>
              <a:t>All platforms. One unified feed.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4754880" y="210312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1" descr="preencoded.png"/>
          <p:cNvPicPr/>
          <p:nvPr/>
        </p:nvPicPr>
        <p:blipFill>
          <a:blip r:embed="rId2"/>
          <a:stretch/>
        </p:blipFill>
        <p:spPr>
          <a:xfrm>
            <a:off x="4892040" y="22402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82" name="Text 19"/>
          <p:cNvSpPr/>
          <p:nvPr/>
        </p:nvSpPr>
        <p:spPr>
          <a:xfrm>
            <a:off x="5413320" y="22860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1628"/>
                </a:solidFill>
                <a:latin typeface="Calibri"/>
                <a:ea typeface="Calibri"/>
              </a:rPr>
              <a:t>Real-time job alerts.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4754880" y="292608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2" descr="preencoded.png"/>
          <p:cNvPicPr/>
          <p:nvPr/>
        </p:nvPicPr>
        <p:blipFill>
          <a:blip r:embed="rId3"/>
          <a:stretch/>
        </p:blipFill>
        <p:spPr>
          <a:xfrm>
            <a:off x="4892040" y="3063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85" name="Text 21"/>
          <p:cNvSpPr/>
          <p:nvPr/>
        </p:nvSpPr>
        <p:spPr>
          <a:xfrm>
            <a:off x="5413320" y="31089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1628"/>
                </a:solidFill>
                <a:latin typeface="Calibri"/>
                <a:ea typeface="Calibri"/>
              </a:rPr>
              <a:t>Intelligent skill-based filtering.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2"/>
          <p:cNvSpPr/>
          <p:nvPr/>
        </p:nvSpPr>
        <p:spPr>
          <a:xfrm>
            <a:off x="4754880" y="374904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Image 3" descr="preencoded.png"/>
          <p:cNvPicPr/>
          <p:nvPr/>
        </p:nvPicPr>
        <p:blipFill>
          <a:blip r:embed="rId4"/>
          <a:stretch/>
        </p:blipFill>
        <p:spPr>
          <a:xfrm>
            <a:off x="4892040" y="388620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88" name="Text 23"/>
          <p:cNvSpPr/>
          <p:nvPr/>
        </p:nvSpPr>
        <p:spPr>
          <a:xfrm>
            <a:off x="5413320" y="39319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1628"/>
                </a:solidFill>
                <a:latin typeface="Calibri"/>
                <a:ea typeface="Calibri"/>
              </a:rPr>
              <a:t>Proposal tracking across all platforms.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Industry Analysis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4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292680" y="896040"/>
            <a:ext cx="2761200" cy="171864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292680" y="896040"/>
            <a:ext cx="2761200" cy="5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384120" y="1005840"/>
            <a:ext cx="2578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ea5e9"/>
                </a:solidFill>
                <a:latin typeface="Calibri"/>
                <a:ea typeface="Calibri"/>
              </a:rPr>
              <a:t>1.57B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384120" y="1783080"/>
            <a:ext cx="2578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Global Freelancers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384120" y="215784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~47% of total global workforce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3237120" y="896040"/>
            <a:ext cx="2761200" cy="171864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3237120" y="896040"/>
            <a:ext cx="2761200" cy="5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3328560" y="1005840"/>
            <a:ext cx="2578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4b8a6"/>
                </a:solidFill>
                <a:latin typeface="Calibri"/>
                <a:ea typeface="Calibri"/>
              </a:rPr>
              <a:t>$1.5T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3328560" y="1783080"/>
            <a:ext cx="2578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Market Value by 2027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3328560" y="215784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Growing at 15% CAGR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6181200" y="896040"/>
            <a:ext cx="2761200" cy="171864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181200" y="896040"/>
            <a:ext cx="2761200" cy="5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6272640" y="1005840"/>
            <a:ext cx="2578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59669"/>
                </a:solidFill>
                <a:latin typeface="Calibri"/>
                <a:ea typeface="Calibri"/>
              </a:rPr>
              <a:t>#3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6272640" y="1783080"/>
            <a:ext cx="2578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Pakistan's Global Rank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6272640" y="215784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3rd largest freelancing nation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8" name="Chart 0"/>
          <p:cNvGraphicFramePr/>
          <p:nvPr/>
        </p:nvGraphicFramePr>
        <p:xfrm>
          <a:off x="292680" y="2743200"/>
          <a:ext cx="8558280" cy="21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Market Analysis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5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320040" y="1143000"/>
            <a:ext cx="3657240" cy="3657240"/>
          </a:xfrm>
          <a:prstGeom prst="ellipse">
            <a:avLst/>
          </a:prstGeom>
          <a:solidFill>
            <a:srgbClr val="dbeafe">
              <a:alpha val="65000"/>
            </a:srgbClr>
          </a:solidFill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887040" y="1710000"/>
            <a:ext cx="2523240" cy="2523240"/>
          </a:xfrm>
          <a:prstGeom prst="ellipse">
            <a:avLst/>
          </a:prstGeom>
          <a:solidFill>
            <a:srgbClr val="ccfbf1">
              <a:alpha val="70000"/>
            </a:srgbClr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1371600" y="2194560"/>
            <a:ext cx="1554120" cy="1554120"/>
          </a:xfrm>
          <a:prstGeom prst="ellipse">
            <a:avLst/>
          </a:prstGeom>
          <a:solidFill>
            <a:srgbClr val="d1fae5">
              <a:alpha val="80000"/>
            </a:srgbClr>
          </a:solidFill>
          <a:ln w="254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1892880" y="125280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ea5e9"/>
                </a:solidFill>
                <a:latin typeface="Calibri"/>
                <a:ea typeface="Calibri"/>
              </a:rPr>
              <a:t>TAM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1892880" y="180144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4b8a6"/>
                </a:solidFill>
                <a:latin typeface="Calibri"/>
                <a:ea typeface="Calibri"/>
              </a:rPr>
              <a:t>SAM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1892880" y="235008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SOM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4316040" y="914400"/>
            <a:ext cx="4571640" cy="1206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4316040" y="914400"/>
            <a:ext cx="54360" cy="1206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4480560" y="10242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TAM  —&gt;  Total Addressable Market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4480560" y="133488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a5e9"/>
                </a:solidFill>
                <a:latin typeface="Calibri"/>
                <a:ea typeface="Calibri"/>
              </a:rPr>
              <a:t>$1.5 Trillion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4480560" y="17190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The entire global freelancing economy — all platforms, all sectors.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4316040" y="2267640"/>
            <a:ext cx="4571640" cy="1206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4316040" y="2267640"/>
            <a:ext cx="54360" cy="1206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4480560" y="23774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SAM  —&gt;  Serviceable Addressable Market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4480560" y="268848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b8a6"/>
                </a:solidFill>
                <a:latin typeface="Calibri"/>
                <a:ea typeface="Calibri"/>
              </a:rPr>
              <a:t>$120 Billion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4480560" y="30722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Tech-enabled freelancers in South Asia &amp; MENA with smartphone access.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4316040" y="3620880"/>
            <a:ext cx="4571640" cy="1206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4316040" y="3620880"/>
            <a:ext cx="54360" cy="120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4480560" y="37306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SOM  —&gt;  Serviceable Obtainable Market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4480560" y="404172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59669"/>
                </a:solidFill>
                <a:latin typeface="Calibri"/>
                <a:ea typeface="Calibri"/>
              </a:rPr>
              <a:t>$6 Billion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4480560" y="44258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Pakistani freelancers active on 2+ platforms — our primary target.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347400" y="4645080"/>
            <a:ext cx="8448840" cy="2923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475560" y="4663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Primary Target: Pakistani freelancers, aged 18–35, active on 2+ platforms, using Android smartphones.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Competitive Analysis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6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347400" y="822960"/>
            <a:ext cx="844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No existing solution offers a mobile-first, multi-platform freelance aggregator.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292680" y="1207080"/>
            <a:ext cx="1535760" cy="475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292680" y="1207080"/>
            <a:ext cx="153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1901880" y="1207080"/>
            <a:ext cx="1535760" cy="475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901880" y="1207080"/>
            <a:ext cx="153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Vollna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3511440" y="1207080"/>
            <a:ext cx="1535760" cy="475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3511440" y="1207080"/>
            <a:ext cx="153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Getlance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5120640" y="1207080"/>
            <a:ext cx="1535760" cy="475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5120640" y="1207080"/>
            <a:ext cx="153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Indeed / LinkedIn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6729840" y="1207080"/>
            <a:ext cx="1992960" cy="475200"/>
          </a:xfrm>
          <a:prstGeom prst="rect">
            <a:avLst/>
          </a:prstGeom>
          <a:solidFill>
            <a:srgbClr val="14b8a6"/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6729840" y="1207080"/>
            <a:ext cx="1992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GigBridge 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1901880" y="1710000"/>
            <a:ext cx="153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upwork-only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alerts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3511440" y="1710000"/>
            <a:ext cx="153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basic web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aggregator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5120640" y="1710000"/>
            <a:ext cx="153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general job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boards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6729840" y="1710000"/>
            <a:ext cx="199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mobile app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aggregator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9"/>
          <p:cNvSpPr/>
          <p:nvPr/>
        </p:nvSpPr>
        <p:spPr>
          <a:xfrm>
            <a:off x="292680" y="2048400"/>
            <a:ext cx="8430480" cy="4021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6729840" y="204840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1"/>
          <p:cNvSpPr/>
          <p:nvPr/>
        </p:nvSpPr>
        <p:spPr>
          <a:xfrm>
            <a:off x="292680" y="20484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Multi-platform feed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2"/>
          <p:cNvSpPr/>
          <p:nvPr/>
        </p:nvSpPr>
        <p:spPr>
          <a:xfrm>
            <a:off x="1901880" y="20484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3511440" y="20484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9e0b"/>
                </a:solidFill>
                <a:latin typeface="Arial"/>
                <a:ea typeface="Arial"/>
              </a:rPr>
              <a:t>Partial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5120640" y="20484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6729840" y="204840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292680" y="2468880"/>
            <a:ext cx="8430480" cy="402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27"/>
          <p:cNvSpPr/>
          <p:nvPr/>
        </p:nvSpPr>
        <p:spPr>
          <a:xfrm>
            <a:off x="6729840" y="246888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8"/>
          <p:cNvSpPr/>
          <p:nvPr/>
        </p:nvSpPr>
        <p:spPr>
          <a:xfrm>
            <a:off x="292680" y="24688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Freelance-specific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9"/>
          <p:cNvSpPr/>
          <p:nvPr/>
        </p:nvSpPr>
        <p:spPr>
          <a:xfrm>
            <a:off x="1901880" y="24688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3511440" y="24688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5120640" y="24688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6729840" y="246888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33"/>
          <p:cNvSpPr/>
          <p:nvPr/>
        </p:nvSpPr>
        <p:spPr>
          <a:xfrm>
            <a:off x="292680" y="2889360"/>
            <a:ext cx="8430480" cy="4021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4"/>
          <p:cNvSpPr/>
          <p:nvPr/>
        </p:nvSpPr>
        <p:spPr>
          <a:xfrm>
            <a:off x="6729840" y="288936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5"/>
          <p:cNvSpPr/>
          <p:nvPr/>
        </p:nvSpPr>
        <p:spPr>
          <a:xfrm>
            <a:off x="292680" y="288936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Mobile app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36"/>
          <p:cNvSpPr/>
          <p:nvPr/>
        </p:nvSpPr>
        <p:spPr>
          <a:xfrm>
            <a:off x="1901880" y="288936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7"/>
          <p:cNvSpPr/>
          <p:nvPr/>
        </p:nvSpPr>
        <p:spPr>
          <a:xfrm>
            <a:off x="3511440" y="288936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38"/>
          <p:cNvSpPr/>
          <p:nvPr/>
        </p:nvSpPr>
        <p:spPr>
          <a:xfrm>
            <a:off x="5120640" y="288936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9"/>
          <p:cNvSpPr/>
          <p:nvPr/>
        </p:nvSpPr>
        <p:spPr>
          <a:xfrm>
            <a:off x="6729840" y="288936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0"/>
          <p:cNvSpPr/>
          <p:nvPr/>
        </p:nvSpPr>
        <p:spPr>
          <a:xfrm>
            <a:off x="292680" y="3310200"/>
            <a:ext cx="8430480" cy="402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41"/>
          <p:cNvSpPr/>
          <p:nvPr/>
        </p:nvSpPr>
        <p:spPr>
          <a:xfrm>
            <a:off x="6729840" y="331020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42"/>
          <p:cNvSpPr/>
          <p:nvPr/>
        </p:nvSpPr>
        <p:spPr>
          <a:xfrm>
            <a:off x="292680" y="33102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Real-time alerts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43"/>
          <p:cNvSpPr/>
          <p:nvPr/>
        </p:nvSpPr>
        <p:spPr>
          <a:xfrm>
            <a:off x="1901880" y="33102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44"/>
          <p:cNvSpPr/>
          <p:nvPr/>
        </p:nvSpPr>
        <p:spPr>
          <a:xfrm>
            <a:off x="3511440" y="33102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45"/>
          <p:cNvSpPr/>
          <p:nvPr/>
        </p:nvSpPr>
        <p:spPr>
          <a:xfrm>
            <a:off x="5120640" y="33102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9e0b"/>
                </a:solidFill>
                <a:latin typeface="Arial"/>
                <a:ea typeface="Arial"/>
              </a:rPr>
              <a:t>Partial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46"/>
          <p:cNvSpPr/>
          <p:nvPr/>
        </p:nvSpPr>
        <p:spPr>
          <a:xfrm>
            <a:off x="6729840" y="331020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47"/>
          <p:cNvSpPr/>
          <p:nvPr/>
        </p:nvSpPr>
        <p:spPr>
          <a:xfrm>
            <a:off x="292680" y="3730680"/>
            <a:ext cx="8430480" cy="4021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48"/>
          <p:cNvSpPr/>
          <p:nvPr/>
        </p:nvSpPr>
        <p:spPr>
          <a:xfrm>
            <a:off x="6729840" y="373068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49"/>
          <p:cNvSpPr/>
          <p:nvPr/>
        </p:nvSpPr>
        <p:spPr>
          <a:xfrm>
            <a:off x="292680" y="37306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Proposal tracker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50"/>
          <p:cNvSpPr/>
          <p:nvPr/>
        </p:nvSpPr>
        <p:spPr>
          <a:xfrm>
            <a:off x="1901880" y="37306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51"/>
          <p:cNvSpPr/>
          <p:nvPr/>
        </p:nvSpPr>
        <p:spPr>
          <a:xfrm>
            <a:off x="3511440" y="37306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52"/>
          <p:cNvSpPr/>
          <p:nvPr/>
        </p:nvSpPr>
        <p:spPr>
          <a:xfrm>
            <a:off x="5120640" y="373068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53"/>
          <p:cNvSpPr/>
          <p:nvPr/>
        </p:nvSpPr>
        <p:spPr>
          <a:xfrm>
            <a:off x="6729840" y="373068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54"/>
          <p:cNvSpPr/>
          <p:nvPr/>
        </p:nvSpPr>
        <p:spPr>
          <a:xfrm>
            <a:off x="292680" y="4151520"/>
            <a:ext cx="8430480" cy="402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55"/>
          <p:cNvSpPr/>
          <p:nvPr/>
        </p:nvSpPr>
        <p:spPr>
          <a:xfrm>
            <a:off x="6729840" y="415152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56"/>
          <p:cNvSpPr/>
          <p:nvPr/>
        </p:nvSpPr>
        <p:spPr>
          <a:xfrm>
            <a:off x="292680" y="415152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Free to use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57"/>
          <p:cNvSpPr/>
          <p:nvPr/>
        </p:nvSpPr>
        <p:spPr>
          <a:xfrm>
            <a:off x="1901880" y="415152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58"/>
          <p:cNvSpPr/>
          <p:nvPr/>
        </p:nvSpPr>
        <p:spPr>
          <a:xfrm>
            <a:off x="3511440" y="415152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59"/>
          <p:cNvSpPr/>
          <p:nvPr/>
        </p:nvSpPr>
        <p:spPr>
          <a:xfrm>
            <a:off x="5120640" y="415152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60"/>
          <p:cNvSpPr/>
          <p:nvPr/>
        </p:nvSpPr>
        <p:spPr>
          <a:xfrm>
            <a:off x="6729840" y="415152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61"/>
          <p:cNvSpPr/>
          <p:nvPr/>
        </p:nvSpPr>
        <p:spPr>
          <a:xfrm>
            <a:off x="292680" y="4572000"/>
            <a:ext cx="8430480" cy="4021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62"/>
          <p:cNvSpPr/>
          <p:nvPr/>
        </p:nvSpPr>
        <p:spPr>
          <a:xfrm>
            <a:off x="6729840" y="4572000"/>
            <a:ext cx="1992960" cy="402120"/>
          </a:xfrm>
          <a:prstGeom prst="rect">
            <a:avLst/>
          </a:prstGeom>
          <a:solidFill>
            <a:srgbClr val="0d2a2a"/>
          </a:solidFill>
          <a:ln w="63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63"/>
          <p:cNvSpPr/>
          <p:nvPr/>
        </p:nvSpPr>
        <p:spPr>
          <a:xfrm>
            <a:off x="292680" y="45720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Pakistan-focused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64"/>
          <p:cNvSpPr/>
          <p:nvPr/>
        </p:nvSpPr>
        <p:spPr>
          <a:xfrm>
            <a:off x="1901880" y="45720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65"/>
          <p:cNvSpPr/>
          <p:nvPr/>
        </p:nvSpPr>
        <p:spPr>
          <a:xfrm>
            <a:off x="3511440" y="45720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66"/>
          <p:cNvSpPr/>
          <p:nvPr/>
        </p:nvSpPr>
        <p:spPr>
          <a:xfrm>
            <a:off x="5120640" y="4572000"/>
            <a:ext cx="153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Arial"/>
                <a:ea typeface="Arial"/>
              </a:rPr>
              <a:t>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67"/>
          <p:cNvSpPr/>
          <p:nvPr/>
        </p:nvSpPr>
        <p:spPr>
          <a:xfrm>
            <a:off x="6729840" y="4572000"/>
            <a:ext cx="199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8"/>
          <p:cNvSpPr/>
          <p:nvPr/>
        </p:nvSpPr>
        <p:spPr>
          <a:xfrm>
            <a:off x="347400" y="4864680"/>
            <a:ext cx="844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Vollna: Upwork-only web tool  ·  Getlance: Basic web aggregator, no mobile  ·  Indeed / LinkedIn: General jobs, not freelance gig platforms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Economics of the Business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7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347400" y="896040"/>
            <a:ext cx="404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Revenue Streams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347400" y="129852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347400" y="1298520"/>
            <a:ext cx="54360" cy="685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511920" y="13716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628"/>
                </a:solidFill>
                <a:latin typeface="Calibri"/>
                <a:ea typeface="Calibri"/>
              </a:rPr>
              <a:t>Pro Subscriptions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511920" y="16642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PKR 599 / mo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3200400" y="1463040"/>
            <a:ext cx="111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a5e9"/>
                </a:solidFill>
                <a:latin typeface="Calibri"/>
                <a:ea typeface="Calibri"/>
              </a:rPr>
              <a:t>60% of revenue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347400" y="212148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347400" y="2121480"/>
            <a:ext cx="54360" cy="685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511920" y="21945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628"/>
                </a:solidFill>
                <a:latin typeface="Calibri"/>
                <a:ea typeface="Calibri"/>
              </a:rPr>
              <a:t>Agency Plans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511920" y="24872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PKR 1,499 / mo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3200400" y="2286000"/>
            <a:ext cx="111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25% of revenue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347400" y="2944440"/>
            <a:ext cx="40413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47400" y="2944440"/>
            <a:ext cx="54360" cy="685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511920" y="30175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628"/>
                </a:solidFill>
                <a:latin typeface="Calibri"/>
                <a:ea typeface="Calibri"/>
              </a:rPr>
              <a:t>Affiliate Revenue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511920" y="33102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Per referral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3200400" y="3108960"/>
            <a:ext cx="111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59669"/>
                </a:solidFill>
                <a:latin typeface="Calibri"/>
                <a:ea typeface="Calibri"/>
              </a:rPr>
              <a:t>15% of revenue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5" name="Chart 0"/>
          <p:cNvGraphicFramePr/>
          <p:nvPr/>
        </p:nvGraphicFramePr>
        <p:xfrm>
          <a:off x="347400" y="3858840"/>
          <a:ext cx="2377080" cy="1005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6" name="Text 20"/>
          <p:cNvSpPr/>
          <p:nvPr/>
        </p:nvSpPr>
        <p:spPr>
          <a:xfrm>
            <a:off x="4754880" y="896040"/>
            <a:ext cx="404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Break-Even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4754880" y="1298520"/>
            <a:ext cx="404136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2"/>
          <p:cNvSpPr/>
          <p:nvPr/>
        </p:nvSpPr>
        <p:spPr>
          <a:xfrm>
            <a:off x="4754880" y="1298520"/>
            <a:ext cx="54360" cy="658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4919400" y="13626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Monthly Fixed Costs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4919400" y="16549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34155"/>
                </a:solidFill>
                <a:latin typeface="Calibri"/>
                <a:ea typeface="Calibri"/>
              </a:rPr>
              <a:t>Server, maintenance, salaries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5"/>
          <p:cNvSpPr/>
          <p:nvPr/>
        </p:nvSpPr>
        <p:spPr>
          <a:xfrm>
            <a:off x="7059240" y="1408320"/>
            <a:ext cx="160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PKR 180,000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6"/>
          <p:cNvSpPr/>
          <p:nvPr/>
        </p:nvSpPr>
        <p:spPr>
          <a:xfrm>
            <a:off x="4754880" y="2103120"/>
            <a:ext cx="404136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7"/>
          <p:cNvSpPr/>
          <p:nvPr/>
        </p:nvSpPr>
        <p:spPr>
          <a:xfrm>
            <a:off x="4754880" y="2103120"/>
            <a:ext cx="54360" cy="658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4919400" y="21672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Avg Revenue per User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4919400" y="24598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34155"/>
                </a:solidFill>
                <a:latin typeface="Calibri"/>
                <a:ea typeface="Calibri"/>
              </a:rPr>
              <a:t>Pro plan monthly fee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7059240" y="2212920"/>
            <a:ext cx="160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PKR 599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1"/>
          <p:cNvSpPr/>
          <p:nvPr/>
        </p:nvSpPr>
        <p:spPr>
          <a:xfrm>
            <a:off x="4754880" y="2907720"/>
            <a:ext cx="404136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4754880" y="2907720"/>
            <a:ext cx="54360" cy="658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4919400" y="29718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Break-Even Users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4919400" y="32644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34155"/>
                </a:solidFill>
                <a:latin typeface="Calibri"/>
                <a:ea typeface="Calibri"/>
              </a:rPr>
              <a:t>Achievable by Month 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7059240" y="3017520"/>
            <a:ext cx="160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~301 users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6"/>
          <p:cNvSpPr/>
          <p:nvPr/>
        </p:nvSpPr>
        <p:spPr>
          <a:xfrm>
            <a:off x="4754880" y="3712320"/>
            <a:ext cx="4041360" cy="65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7"/>
          <p:cNvSpPr/>
          <p:nvPr/>
        </p:nvSpPr>
        <p:spPr>
          <a:xfrm>
            <a:off x="4754880" y="3712320"/>
            <a:ext cx="54360" cy="658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4919400" y="37764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Gross Margin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4919400" y="40690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34155"/>
                </a:solidFill>
                <a:latin typeface="Calibri"/>
                <a:ea typeface="Calibri"/>
              </a:rPr>
              <a:t>Low marginal cost per new user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7059240" y="3822120"/>
            <a:ext cx="160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~85%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Marketing Plan — The 4Ps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8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4"/>
          <p:cNvSpPr/>
          <p:nvPr/>
        </p:nvSpPr>
        <p:spPr>
          <a:xfrm>
            <a:off x="292680" y="841320"/>
            <a:ext cx="4114440" cy="181008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292680" y="841320"/>
            <a:ext cx="54360" cy="181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457200" y="10242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54" name="Text 6"/>
          <p:cNvSpPr/>
          <p:nvPr/>
        </p:nvSpPr>
        <p:spPr>
          <a:xfrm>
            <a:off x="951120" y="10242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a5e9"/>
                </a:solidFill>
                <a:latin typeface="Calibri"/>
                <a:ea typeface="Calibri"/>
              </a:rPr>
              <a:t>Product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457200" y="1572840"/>
            <a:ext cx="100080" cy="10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640080" y="151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Mobile-first Android app (iOS in Phase 2)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457200" y="1920240"/>
            <a:ext cx="100080" cy="10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640080" y="1865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Unified job feed from 6+ major platforms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457200" y="2267640"/>
            <a:ext cx="100080" cy="10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640080" y="2212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Smart alerts, filters, and proposal tracker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3"/>
          <p:cNvSpPr/>
          <p:nvPr/>
        </p:nvSpPr>
        <p:spPr>
          <a:xfrm>
            <a:off x="4645080" y="841320"/>
            <a:ext cx="4114440" cy="181008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4645080" y="841320"/>
            <a:ext cx="54360" cy="181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1" descr="preencoded.png"/>
          <p:cNvPicPr/>
          <p:nvPr/>
        </p:nvPicPr>
        <p:blipFill>
          <a:blip r:embed="rId2"/>
          <a:stretch/>
        </p:blipFill>
        <p:spPr>
          <a:xfrm>
            <a:off x="4809600" y="10242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64" name="Text 15"/>
          <p:cNvSpPr/>
          <p:nvPr/>
        </p:nvSpPr>
        <p:spPr>
          <a:xfrm>
            <a:off x="5303520" y="10242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Price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6"/>
          <p:cNvSpPr/>
          <p:nvPr/>
        </p:nvSpPr>
        <p:spPr>
          <a:xfrm>
            <a:off x="4809600" y="1572840"/>
            <a:ext cx="100080" cy="10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4992480" y="151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Free tier for zero-cost user acquisition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18"/>
          <p:cNvSpPr/>
          <p:nvPr/>
        </p:nvSpPr>
        <p:spPr>
          <a:xfrm>
            <a:off x="4809600" y="1920240"/>
            <a:ext cx="100080" cy="10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4992480" y="1865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Pro: PKR 599/mo — affordable for local market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4809600" y="2267640"/>
            <a:ext cx="100080" cy="10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4992480" y="2212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Agency: PKR 1,499/mo — for teams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292680" y="2816280"/>
            <a:ext cx="4114440" cy="181008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23"/>
          <p:cNvSpPr/>
          <p:nvPr/>
        </p:nvSpPr>
        <p:spPr>
          <a:xfrm>
            <a:off x="292680" y="2816280"/>
            <a:ext cx="54360" cy="181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3" name="Image 2" descr="preencoded.png"/>
          <p:cNvPicPr/>
          <p:nvPr/>
        </p:nvPicPr>
        <p:blipFill>
          <a:blip r:embed="rId3"/>
          <a:stretch/>
        </p:blipFill>
        <p:spPr>
          <a:xfrm>
            <a:off x="457200" y="29991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74" name="Text 24"/>
          <p:cNvSpPr/>
          <p:nvPr/>
        </p:nvSpPr>
        <p:spPr>
          <a:xfrm>
            <a:off x="951120" y="29991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59669"/>
                </a:solidFill>
                <a:latin typeface="Calibri"/>
                <a:ea typeface="Calibri"/>
              </a:rPr>
              <a:t>Promotion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25"/>
          <p:cNvSpPr/>
          <p:nvPr/>
        </p:nvSpPr>
        <p:spPr>
          <a:xfrm>
            <a:off x="457200" y="3547800"/>
            <a:ext cx="100080" cy="10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6"/>
          <p:cNvSpPr/>
          <p:nvPr/>
        </p:nvSpPr>
        <p:spPr>
          <a:xfrm>
            <a:off x="640080" y="349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YouTube &amp; LinkedIn content marketing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7"/>
          <p:cNvSpPr/>
          <p:nvPr/>
        </p:nvSpPr>
        <p:spPr>
          <a:xfrm>
            <a:off x="457200" y="3895200"/>
            <a:ext cx="100080" cy="10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8"/>
          <p:cNvSpPr/>
          <p:nvPr/>
        </p:nvSpPr>
        <p:spPr>
          <a:xfrm>
            <a:off x="640080" y="3840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Influencer partnerships with top Pakistani freelancers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29"/>
          <p:cNvSpPr/>
          <p:nvPr/>
        </p:nvSpPr>
        <p:spPr>
          <a:xfrm>
            <a:off x="457200" y="4242960"/>
            <a:ext cx="100080" cy="10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640080" y="4187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PSEB startup programme &amp; referral scheme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31"/>
          <p:cNvSpPr/>
          <p:nvPr/>
        </p:nvSpPr>
        <p:spPr>
          <a:xfrm>
            <a:off x="4645080" y="2816280"/>
            <a:ext cx="4114440" cy="181008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4645080" y="2816280"/>
            <a:ext cx="54360" cy="181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3" descr="preencoded.png"/>
          <p:cNvPicPr/>
          <p:nvPr/>
        </p:nvPicPr>
        <p:blipFill>
          <a:blip r:embed="rId4"/>
          <a:stretch/>
        </p:blipFill>
        <p:spPr>
          <a:xfrm>
            <a:off x="4809600" y="29991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84" name="Text 33"/>
          <p:cNvSpPr/>
          <p:nvPr/>
        </p:nvSpPr>
        <p:spPr>
          <a:xfrm>
            <a:off x="5303520" y="29991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78bfa"/>
                </a:solidFill>
                <a:latin typeface="Calibri"/>
                <a:ea typeface="Calibri"/>
              </a:rPr>
              <a:t>Place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34"/>
          <p:cNvSpPr/>
          <p:nvPr/>
        </p:nvSpPr>
        <p:spPr>
          <a:xfrm>
            <a:off x="4809600" y="3547800"/>
            <a:ext cx="100080" cy="10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4992480" y="349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Google Play Store (primary launch)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36"/>
          <p:cNvSpPr/>
          <p:nvPr/>
        </p:nvSpPr>
        <p:spPr>
          <a:xfrm>
            <a:off x="4809600" y="3895200"/>
            <a:ext cx="100080" cy="10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7"/>
          <p:cNvSpPr/>
          <p:nvPr/>
        </p:nvSpPr>
        <p:spPr>
          <a:xfrm>
            <a:off x="4992480" y="3840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Apple App Store (Phase 2)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38"/>
          <p:cNvSpPr/>
          <p:nvPr/>
        </p:nvSpPr>
        <p:spPr>
          <a:xfrm>
            <a:off x="4809600" y="4242960"/>
            <a:ext cx="100080" cy="10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9"/>
          <p:cNvSpPr/>
          <p:nvPr/>
        </p:nvSpPr>
        <p:spPr>
          <a:xfrm>
            <a:off x="4992480" y="4187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PSEB startup listings &amp; web dashboard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Design &amp; Development Plan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9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347400" y="89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Technology Stack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347400" y="1298520"/>
            <a:ext cx="4041360" cy="456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475560" y="13899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b8a6"/>
                </a:solidFill>
                <a:latin typeface="Calibri"/>
                <a:ea typeface="Calibri"/>
              </a:rPr>
              <a:t>Frontend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1828800" y="13899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React Native (Android &amp; iOS)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347400" y="1828800"/>
            <a:ext cx="4041360" cy="45684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475560" y="19202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b8a6"/>
                </a:solidFill>
                <a:latin typeface="Calibri"/>
                <a:ea typeface="Calibri"/>
              </a:rPr>
              <a:t>Backend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1828800" y="19202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Node.js + Express REST API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1"/>
          <p:cNvSpPr/>
          <p:nvPr/>
        </p:nvSpPr>
        <p:spPr>
          <a:xfrm>
            <a:off x="347400" y="2359080"/>
            <a:ext cx="4041360" cy="456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475560" y="24505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b8a6"/>
                </a:solidFill>
                <a:latin typeface="Calibri"/>
                <a:ea typeface="Calibri"/>
              </a:rPr>
              <a:t>Database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3"/>
          <p:cNvSpPr/>
          <p:nvPr/>
        </p:nvSpPr>
        <p:spPr>
          <a:xfrm>
            <a:off x="1828800" y="2450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MongoDB + Redis (caching)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4"/>
          <p:cNvSpPr/>
          <p:nvPr/>
        </p:nvSpPr>
        <p:spPr>
          <a:xfrm>
            <a:off x="347400" y="2889360"/>
            <a:ext cx="4041360" cy="45684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475560" y="298080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b8a6"/>
                </a:solidFill>
                <a:latin typeface="Calibri"/>
                <a:ea typeface="Calibri"/>
              </a:rPr>
              <a:t>Aggregation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1828800" y="29808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Platform APIs + Web scrapers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347400" y="3420000"/>
            <a:ext cx="4041360" cy="456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8"/>
          <p:cNvSpPr/>
          <p:nvPr/>
        </p:nvSpPr>
        <p:spPr>
          <a:xfrm>
            <a:off x="475560" y="35114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b8a6"/>
                </a:solidFill>
                <a:latin typeface="Calibri"/>
                <a:ea typeface="Calibri"/>
              </a:rPr>
              <a:t>Auth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9"/>
          <p:cNvSpPr/>
          <p:nvPr/>
        </p:nvSpPr>
        <p:spPr>
          <a:xfrm>
            <a:off x="1828800" y="35114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OAuth 2.0 — no passwords stored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0"/>
          <p:cNvSpPr/>
          <p:nvPr/>
        </p:nvSpPr>
        <p:spPr>
          <a:xfrm>
            <a:off x="347400" y="4041720"/>
            <a:ext cx="4041360" cy="65808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1"/>
          <p:cNvSpPr/>
          <p:nvPr/>
        </p:nvSpPr>
        <p:spPr>
          <a:xfrm>
            <a:off x="475560" y="4096440"/>
            <a:ext cx="3821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2400e"/>
                </a:solidFill>
                <a:latin typeface="Calibri"/>
                <a:ea typeface="Calibri"/>
              </a:rPr>
              <a:t>Intellectual Property: Custom aggregation algorithm, brand name, and UX design to be protected under Pakistani IP law upon launch.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2"/>
          <p:cNvSpPr/>
          <p:nvPr/>
        </p:nvSpPr>
        <p:spPr>
          <a:xfrm>
            <a:off x="4754880" y="896040"/>
            <a:ext cx="404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Development Milestones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3"/>
          <p:cNvSpPr/>
          <p:nvPr/>
        </p:nvSpPr>
        <p:spPr>
          <a:xfrm>
            <a:off x="4754880" y="1298520"/>
            <a:ext cx="4041360" cy="667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4"/>
          <p:cNvSpPr/>
          <p:nvPr/>
        </p:nvSpPr>
        <p:spPr>
          <a:xfrm>
            <a:off x="4754880" y="1298520"/>
            <a:ext cx="54360" cy="667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5"/>
          <p:cNvSpPr/>
          <p:nvPr/>
        </p:nvSpPr>
        <p:spPr>
          <a:xfrm>
            <a:off x="4919400" y="13626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Phase 1  ·  Months 1–2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6"/>
          <p:cNvSpPr/>
          <p:nvPr/>
        </p:nvSpPr>
        <p:spPr>
          <a:xfrm>
            <a:off x="4919400" y="165492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UI/UX via Stitch, API integrations for Upwork &amp; Fiverr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7"/>
          <p:cNvSpPr/>
          <p:nvPr/>
        </p:nvSpPr>
        <p:spPr>
          <a:xfrm>
            <a:off x="4754880" y="2103120"/>
            <a:ext cx="4041360" cy="667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8"/>
          <p:cNvSpPr/>
          <p:nvPr/>
        </p:nvSpPr>
        <p:spPr>
          <a:xfrm>
            <a:off x="4754880" y="2103120"/>
            <a:ext cx="54360" cy="667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9"/>
          <p:cNvSpPr/>
          <p:nvPr/>
        </p:nvSpPr>
        <p:spPr>
          <a:xfrm>
            <a:off x="4919400" y="21672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Phase 2  ·  Months 3–4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0"/>
          <p:cNvSpPr/>
          <p:nvPr/>
        </p:nvSpPr>
        <p:spPr>
          <a:xfrm>
            <a:off x="4919400" y="24598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4 more platforms, alert engine, 100-user beta testing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1"/>
          <p:cNvSpPr/>
          <p:nvPr/>
        </p:nvSpPr>
        <p:spPr>
          <a:xfrm>
            <a:off x="4754880" y="2907720"/>
            <a:ext cx="4041360" cy="667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2"/>
          <p:cNvSpPr/>
          <p:nvPr/>
        </p:nvSpPr>
        <p:spPr>
          <a:xfrm>
            <a:off x="4754880" y="2907720"/>
            <a:ext cx="54360" cy="667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3"/>
          <p:cNvSpPr/>
          <p:nvPr/>
        </p:nvSpPr>
        <p:spPr>
          <a:xfrm>
            <a:off x="4919400" y="29718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Phase 3  ·  Months 5–6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34"/>
          <p:cNvSpPr/>
          <p:nvPr/>
        </p:nvSpPr>
        <p:spPr>
          <a:xfrm>
            <a:off x="4919400" y="32644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Performance tuning, Play Store launch, Pro plan enabled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35"/>
          <p:cNvSpPr/>
          <p:nvPr/>
        </p:nvSpPr>
        <p:spPr>
          <a:xfrm>
            <a:off x="4754880" y="3712320"/>
            <a:ext cx="4041360" cy="667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6"/>
          <p:cNvSpPr/>
          <p:nvPr/>
        </p:nvSpPr>
        <p:spPr>
          <a:xfrm>
            <a:off x="4754880" y="3712320"/>
            <a:ext cx="54360" cy="667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7"/>
          <p:cNvSpPr/>
          <p:nvPr/>
        </p:nvSpPr>
        <p:spPr>
          <a:xfrm>
            <a:off x="4919400" y="37764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1628"/>
                </a:solidFill>
                <a:latin typeface="Calibri"/>
                <a:ea typeface="Calibri"/>
              </a:rPr>
              <a:t>Phase 4  ·  Month 7+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38"/>
          <p:cNvSpPr/>
          <p:nvPr/>
        </p:nvSpPr>
        <p:spPr>
          <a:xfrm>
            <a:off x="4919400" y="40690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iOS release, AI job matching, Agency plan rollout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Management Team &amp; Operations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10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4"/>
          <p:cNvSpPr/>
          <p:nvPr/>
        </p:nvSpPr>
        <p:spPr>
          <a:xfrm>
            <a:off x="292680" y="841320"/>
            <a:ext cx="4114440" cy="178272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5"/>
          <p:cNvSpPr/>
          <p:nvPr/>
        </p:nvSpPr>
        <p:spPr>
          <a:xfrm>
            <a:off x="475560" y="1097280"/>
            <a:ext cx="804240" cy="8042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6" name="Image 0" descr="preencoded.png"/>
          <p:cNvPicPr/>
          <p:nvPr/>
        </p:nvPicPr>
        <p:blipFill>
          <a:blip r:embed="rId1"/>
          <a:stretch/>
        </p:blipFill>
        <p:spPr>
          <a:xfrm>
            <a:off x="640080" y="12618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337" name="Text 6"/>
          <p:cNvSpPr/>
          <p:nvPr/>
        </p:nvSpPr>
        <p:spPr>
          <a:xfrm>
            <a:off x="1408320" y="116136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a5e9"/>
                </a:solidFill>
                <a:latin typeface="Calibri"/>
                <a:ea typeface="Calibri"/>
              </a:rPr>
              <a:t>Chief Executive Officer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7"/>
          <p:cNvSpPr/>
          <p:nvPr/>
        </p:nvSpPr>
        <p:spPr>
          <a:xfrm>
            <a:off x="475560" y="1774080"/>
            <a:ext cx="382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Overall vision, investor relations, and go-to-market strategy. Background in software engineering and entrepreneurship.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8"/>
          <p:cNvSpPr/>
          <p:nvPr/>
        </p:nvSpPr>
        <p:spPr>
          <a:xfrm>
            <a:off x="292680" y="2788920"/>
            <a:ext cx="4114440" cy="178272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9"/>
          <p:cNvSpPr/>
          <p:nvPr/>
        </p:nvSpPr>
        <p:spPr>
          <a:xfrm>
            <a:off x="475560" y="3044880"/>
            <a:ext cx="804240" cy="8042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1" name="Image 1" descr="preencoded.png"/>
          <p:cNvPicPr/>
          <p:nvPr/>
        </p:nvPicPr>
        <p:blipFill>
          <a:blip r:embed="rId2"/>
          <a:stretch/>
        </p:blipFill>
        <p:spPr>
          <a:xfrm>
            <a:off x="640080" y="32094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342" name="Text 10"/>
          <p:cNvSpPr/>
          <p:nvPr/>
        </p:nvSpPr>
        <p:spPr>
          <a:xfrm>
            <a:off x="1408320" y="310896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b8a6"/>
                </a:solidFill>
                <a:latin typeface="Calibri"/>
                <a:ea typeface="Calibri"/>
              </a:rPr>
              <a:t>Chief Technology Officer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475560" y="3721680"/>
            <a:ext cx="382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Product development, API integrations, and architecture. Proficient in React Native, Node.js, and MongoDB.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12"/>
          <p:cNvSpPr/>
          <p:nvPr/>
        </p:nvSpPr>
        <p:spPr>
          <a:xfrm>
            <a:off x="4645080" y="841320"/>
            <a:ext cx="4114440" cy="178272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4827960" y="1097280"/>
            <a:ext cx="804240" cy="8042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6" name="Image 2" descr="preencoded.png"/>
          <p:cNvPicPr/>
          <p:nvPr/>
        </p:nvPicPr>
        <p:blipFill>
          <a:blip r:embed="rId3"/>
          <a:stretch/>
        </p:blipFill>
        <p:spPr>
          <a:xfrm>
            <a:off x="4992480" y="12618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347" name="Text 14"/>
          <p:cNvSpPr/>
          <p:nvPr/>
        </p:nvSpPr>
        <p:spPr>
          <a:xfrm>
            <a:off x="5760720" y="116136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59669"/>
                </a:solidFill>
                <a:latin typeface="Calibri"/>
                <a:ea typeface="Calibri"/>
              </a:rPr>
              <a:t>Marketing Lead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4827960" y="1774080"/>
            <a:ext cx="382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Community growth, social media, and influencer partnerships in the Pakistani freelancing ecosystem.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6"/>
          <p:cNvSpPr/>
          <p:nvPr/>
        </p:nvSpPr>
        <p:spPr>
          <a:xfrm>
            <a:off x="4645080" y="2788920"/>
            <a:ext cx="4114440" cy="1782720"/>
          </a:xfrm>
          <a:prstGeom prst="rect">
            <a:avLst/>
          </a:prstGeom>
          <a:solidFill>
            <a:srgbClr val="1e2d3d"/>
          </a:solidFill>
          <a:ln w="10160">
            <a:solidFill>
              <a:srgbClr val="26354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17"/>
          <p:cNvSpPr/>
          <p:nvPr/>
        </p:nvSpPr>
        <p:spPr>
          <a:xfrm>
            <a:off x="4827960" y="3044880"/>
            <a:ext cx="804240" cy="804240"/>
          </a:xfrm>
          <a:prstGeom prst="ellipse">
            <a:avLst/>
          </a:prstGeom>
          <a:solidFill>
            <a:srgbClr val="0f1e2e"/>
          </a:solidFill>
          <a:ln w="1905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1" name="Image 3" descr="preencoded.png"/>
          <p:cNvPicPr/>
          <p:nvPr/>
        </p:nvPicPr>
        <p:blipFill>
          <a:blip r:embed="rId4"/>
          <a:stretch/>
        </p:blipFill>
        <p:spPr>
          <a:xfrm>
            <a:off x="4992480" y="32094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352" name="Text 18"/>
          <p:cNvSpPr/>
          <p:nvPr/>
        </p:nvSpPr>
        <p:spPr>
          <a:xfrm>
            <a:off x="5760720" y="310896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Operations Manager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9"/>
          <p:cNvSpPr/>
          <p:nvPr/>
        </p:nvSpPr>
        <p:spPr>
          <a:xfrm>
            <a:off x="4827960" y="3721680"/>
            <a:ext cx="382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Customer support, subscriptions, platform partnerships, and day-to-day business operations.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0"/>
          <p:cNvSpPr/>
          <p:nvPr/>
        </p:nvSpPr>
        <p:spPr>
          <a:xfrm>
            <a:off x="347400" y="4773240"/>
            <a:ext cx="844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Structure: Remote-first, Lahore-based team. Lean setup with outsourced legal and accounting services.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1"/>
          <p:cNvSpPr/>
          <p:nvPr/>
        </p:nvSpPr>
        <p:spPr>
          <a:xfrm>
            <a:off x="0" y="0"/>
            <a:ext cx="54360" cy="7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"/>
          <p:cNvSpPr/>
          <p:nvPr/>
        </p:nvSpPr>
        <p:spPr>
          <a:xfrm>
            <a:off x="201240" y="91440"/>
            <a:ext cx="7314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Overall Schedule &amp; Financial Projections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7955280" y="219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11 / 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4"/>
          <p:cNvSpPr/>
          <p:nvPr/>
        </p:nvSpPr>
        <p:spPr>
          <a:xfrm>
            <a:off x="347400" y="89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Key Milestones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5"/>
          <p:cNvSpPr/>
          <p:nvPr/>
        </p:nvSpPr>
        <p:spPr>
          <a:xfrm>
            <a:off x="347400" y="1362600"/>
            <a:ext cx="246600" cy="246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6"/>
          <p:cNvSpPr/>
          <p:nvPr/>
        </p:nvSpPr>
        <p:spPr>
          <a:xfrm>
            <a:off x="448200" y="1627560"/>
            <a:ext cx="45360" cy="347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7"/>
          <p:cNvSpPr/>
          <p:nvPr/>
        </p:nvSpPr>
        <p:spPr>
          <a:xfrm>
            <a:off x="713160" y="13258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Month 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8"/>
          <p:cNvSpPr/>
          <p:nvPr/>
        </p:nvSpPr>
        <p:spPr>
          <a:xfrm>
            <a:off x="1737360" y="13258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Seed funding secured, team assembled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9"/>
          <p:cNvSpPr/>
          <p:nvPr/>
        </p:nvSpPr>
        <p:spPr>
          <a:xfrm>
            <a:off x="347400" y="1956960"/>
            <a:ext cx="246600" cy="246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0"/>
          <p:cNvSpPr/>
          <p:nvPr/>
        </p:nvSpPr>
        <p:spPr>
          <a:xfrm>
            <a:off x="448200" y="2221920"/>
            <a:ext cx="45360" cy="347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1"/>
          <p:cNvSpPr/>
          <p:nvPr/>
        </p:nvSpPr>
        <p:spPr>
          <a:xfrm>
            <a:off x="713160" y="192024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Month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2"/>
          <p:cNvSpPr/>
          <p:nvPr/>
        </p:nvSpPr>
        <p:spPr>
          <a:xfrm>
            <a:off x="1737360" y="19202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MVP wireframes &amp; tech stack finalized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3"/>
          <p:cNvSpPr/>
          <p:nvPr/>
        </p:nvSpPr>
        <p:spPr>
          <a:xfrm>
            <a:off x="347400" y="2551320"/>
            <a:ext cx="246600" cy="246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14"/>
          <p:cNvSpPr/>
          <p:nvPr/>
        </p:nvSpPr>
        <p:spPr>
          <a:xfrm>
            <a:off x="448200" y="2816280"/>
            <a:ext cx="45360" cy="347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5"/>
          <p:cNvSpPr/>
          <p:nvPr/>
        </p:nvSpPr>
        <p:spPr>
          <a:xfrm>
            <a:off x="713160" y="251460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4b8a6"/>
                </a:solidFill>
                <a:latin typeface="Calibri"/>
                <a:ea typeface="Calibri"/>
              </a:rPr>
              <a:t>Month 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6"/>
          <p:cNvSpPr/>
          <p:nvPr/>
        </p:nvSpPr>
        <p:spPr>
          <a:xfrm>
            <a:off x="1737360" y="25146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Beta app tested with 100 users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7"/>
          <p:cNvSpPr/>
          <p:nvPr/>
        </p:nvSpPr>
        <p:spPr>
          <a:xfrm>
            <a:off x="347400" y="3145680"/>
            <a:ext cx="246600" cy="246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8"/>
          <p:cNvSpPr/>
          <p:nvPr/>
        </p:nvSpPr>
        <p:spPr>
          <a:xfrm>
            <a:off x="448200" y="3410640"/>
            <a:ext cx="45360" cy="347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19"/>
          <p:cNvSpPr/>
          <p:nvPr/>
        </p:nvSpPr>
        <p:spPr>
          <a:xfrm>
            <a:off x="713160" y="31089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Month 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0"/>
          <p:cNvSpPr/>
          <p:nvPr/>
        </p:nvSpPr>
        <p:spPr>
          <a:xfrm>
            <a:off x="1737360" y="3108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Google Play Store launch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1"/>
          <p:cNvSpPr/>
          <p:nvPr/>
        </p:nvSpPr>
        <p:spPr>
          <a:xfrm>
            <a:off x="347400" y="3740040"/>
            <a:ext cx="246600" cy="246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22"/>
          <p:cNvSpPr/>
          <p:nvPr/>
        </p:nvSpPr>
        <p:spPr>
          <a:xfrm>
            <a:off x="448200" y="4005000"/>
            <a:ext cx="45360" cy="347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23"/>
          <p:cNvSpPr/>
          <p:nvPr/>
        </p:nvSpPr>
        <p:spPr>
          <a:xfrm>
            <a:off x="713160" y="37033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Month 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4"/>
          <p:cNvSpPr/>
          <p:nvPr/>
        </p:nvSpPr>
        <p:spPr>
          <a:xfrm>
            <a:off x="1737360" y="37033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301 paid subscribers — break-even achieved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5"/>
          <p:cNvSpPr/>
          <p:nvPr/>
        </p:nvSpPr>
        <p:spPr>
          <a:xfrm>
            <a:off x="347400" y="4334400"/>
            <a:ext cx="246600" cy="246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6"/>
          <p:cNvSpPr/>
          <p:nvPr/>
        </p:nvSpPr>
        <p:spPr>
          <a:xfrm>
            <a:off x="713160" y="42976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alibri"/>
                <a:ea typeface="Calibri"/>
              </a:rPr>
              <a:t>Month 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27"/>
          <p:cNvSpPr/>
          <p:nvPr/>
        </p:nvSpPr>
        <p:spPr>
          <a:xfrm>
            <a:off x="1737360" y="4297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1,000 users, iOS app live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3" name="Chart 0"/>
          <p:cNvGraphicFramePr/>
          <p:nvPr/>
        </p:nvGraphicFramePr>
        <p:xfrm>
          <a:off x="4645080" y="896040"/>
          <a:ext cx="4205880" cy="257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4" name="Text 28"/>
          <p:cNvSpPr/>
          <p:nvPr/>
        </p:nvSpPr>
        <p:spPr>
          <a:xfrm>
            <a:off x="4645080" y="35845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Financial Highlights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29"/>
          <p:cNvSpPr/>
          <p:nvPr/>
        </p:nvSpPr>
        <p:spPr>
          <a:xfrm>
            <a:off x="4645080" y="3950280"/>
            <a:ext cx="1965600" cy="529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0"/>
          <p:cNvSpPr/>
          <p:nvPr/>
        </p:nvSpPr>
        <p:spPr>
          <a:xfrm>
            <a:off x="4645080" y="3950280"/>
            <a:ext cx="54360" cy="529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1"/>
          <p:cNvSpPr/>
          <p:nvPr/>
        </p:nvSpPr>
        <p:spPr>
          <a:xfrm>
            <a:off x="4773240" y="398664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4155"/>
                </a:solidFill>
                <a:latin typeface="Calibri"/>
                <a:ea typeface="Calibri"/>
              </a:rPr>
              <a:t>Year 1 Paid Users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2"/>
          <p:cNvSpPr/>
          <p:nvPr/>
        </p:nvSpPr>
        <p:spPr>
          <a:xfrm>
            <a:off x="4773240" y="42062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alibri"/>
                <a:ea typeface="Calibri"/>
              </a:rPr>
              <a:t>~200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3"/>
          <p:cNvSpPr/>
          <p:nvPr/>
        </p:nvSpPr>
        <p:spPr>
          <a:xfrm>
            <a:off x="6793920" y="3950280"/>
            <a:ext cx="1965600" cy="529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4"/>
          <p:cNvSpPr/>
          <p:nvPr/>
        </p:nvSpPr>
        <p:spPr>
          <a:xfrm>
            <a:off x="6793920" y="3950280"/>
            <a:ext cx="54360" cy="529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5"/>
          <p:cNvSpPr/>
          <p:nvPr/>
        </p:nvSpPr>
        <p:spPr>
          <a:xfrm>
            <a:off x="6922080" y="398664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4155"/>
                </a:solidFill>
                <a:latin typeface="Calibri"/>
                <a:ea typeface="Calibri"/>
              </a:rPr>
              <a:t>Year 2 Paid Users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36"/>
          <p:cNvSpPr/>
          <p:nvPr/>
        </p:nvSpPr>
        <p:spPr>
          <a:xfrm>
            <a:off x="6922080" y="42062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4b8a6"/>
                </a:solidFill>
                <a:latin typeface="Calibri"/>
                <a:ea typeface="Calibri"/>
              </a:rPr>
              <a:t>~1,000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7"/>
          <p:cNvSpPr/>
          <p:nvPr/>
        </p:nvSpPr>
        <p:spPr>
          <a:xfrm>
            <a:off x="4645080" y="4608720"/>
            <a:ext cx="1965600" cy="529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38"/>
          <p:cNvSpPr/>
          <p:nvPr/>
        </p:nvSpPr>
        <p:spPr>
          <a:xfrm>
            <a:off x="4645080" y="4608720"/>
            <a:ext cx="54360" cy="529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9"/>
          <p:cNvSpPr/>
          <p:nvPr/>
        </p:nvSpPr>
        <p:spPr>
          <a:xfrm>
            <a:off x="4773240" y="46450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4155"/>
                </a:solidFill>
                <a:latin typeface="Calibri"/>
                <a:ea typeface="Calibri"/>
              </a:rPr>
              <a:t>Year 3 Revenue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40"/>
          <p:cNvSpPr/>
          <p:nvPr/>
        </p:nvSpPr>
        <p:spPr>
          <a:xfrm>
            <a:off x="4773240" y="48646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59669"/>
                </a:solidFill>
                <a:latin typeface="Calibri"/>
                <a:ea typeface="Calibri"/>
              </a:rPr>
              <a:t>PKR 21.6M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41"/>
          <p:cNvSpPr/>
          <p:nvPr/>
        </p:nvSpPr>
        <p:spPr>
          <a:xfrm>
            <a:off x="6793920" y="4608720"/>
            <a:ext cx="1965600" cy="529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42"/>
          <p:cNvSpPr/>
          <p:nvPr/>
        </p:nvSpPr>
        <p:spPr>
          <a:xfrm>
            <a:off x="6793920" y="4608720"/>
            <a:ext cx="54360" cy="529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43"/>
          <p:cNvSpPr/>
          <p:nvPr/>
        </p:nvSpPr>
        <p:spPr>
          <a:xfrm>
            <a:off x="6922080" y="46450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4155"/>
                </a:solidFill>
                <a:latin typeface="Calibri"/>
                <a:ea typeface="Calibri"/>
              </a:rPr>
              <a:t>Profitability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44"/>
          <p:cNvSpPr/>
          <p:nvPr/>
        </p:nvSpPr>
        <p:spPr>
          <a:xfrm>
            <a:off x="6922080" y="48646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c3aed"/>
                </a:solidFill>
                <a:latin typeface="Calibri"/>
                <a:ea typeface="Calibri"/>
              </a:rPr>
              <a:t>Year 2, Q2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-1371600" y="3200400"/>
            <a:ext cx="4571640" cy="457164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6858000" y="-731520"/>
            <a:ext cx="4114440" cy="411444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4" name="Image 0" descr="preencoded.png"/>
          <p:cNvPicPr/>
          <p:nvPr/>
        </p:nvPicPr>
        <p:blipFill>
          <a:blip r:embed="rId1"/>
          <a:stretch/>
        </p:blipFill>
        <p:spPr>
          <a:xfrm>
            <a:off x="4069080" y="45720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405" name="Text 3"/>
          <p:cNvSpPr/>
          <p:nvPr/>
        </p:nvSpPr>
        <p:spPr>
          <a:xfrm>
            <a:off x="457200" y="1536120"/>
            <a:ext cx="8229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The Vision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4"/>
          <p:cNvSpPr/>
          <p:nvPr/>
        </p:nvSpPr>
        <p:spPr>
          <a:xfrm>
            <a:off x="3474720" y="2240280"/>
            <a:ext cx="2194200" cy="45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5"/>
          <p:cNvSpPr/>
          <p:nvPr/>
        </p:nvSpPr>
        <p:spPr>
          <a:xfrm>
            <a:off x="914400" y="2395800"/>
            <a:ext cx="7314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"Every freelancer deserves to spend their time doing great work , not hunting across a dozen tabs."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6"/>
          <p:cNvSpPr/>
          <p:nvPr/>
        </p:nvSpPr>
        <p:spPr>
          <a:xfrm>
            <a:off x="914400" y="32461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GigBridge is built to become the career hub for Pakistan's freelancing generation  and then the world's.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7"/>
          <p:cNvSpPr/>
          <p:nvPr/>
        </p:nvSpPr>
        <p:spPr>
          <a:xfrm>
            <a:off x="2926080" y="4041720"/>
            <a:ext cx="3291480" cy="59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8"/>
          <p:cNvSpPr/>
          <p:nvPr/>
        </p:nvSpPr>
        <p:spPr>
          <a:xfrm>
            <a:off x="2926080" y="404172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Thank You  ,  Questions?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9"/>
          <p:cNvSpPr/>
          <p:nvPr/>
        </p:nvSpPr>
        <p:spPr>
          <a:xfrm>
            <a:off x="457200" y="482796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2026-05-09T08:26:19Z</dcterms:created>
  <dc:creator>PptxGenJS</dc:creator>
  <dc:description/>
  <dc:language>en-US</dc:language>
  <cp:lastModifiedBy/>
  <dcterms:modified xsi:type="dcterms:W3CDTF">2026-05-09T16:14:15Z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